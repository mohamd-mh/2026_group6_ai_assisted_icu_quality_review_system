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6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7570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D5986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0624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0292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Enabling Next-Gen LLM Applications</a:t>
            </a:r>
            <a:endParaRPr lang="en-US" sz="1900" dirty="0"/>
          </a:p>
          <a:p>
            <a:pPr marL="0" indent="0">
              <a:buNone/>
            </a:pPr>
            <a:r>
              <a:rPr lang="en-US" sz="1900" i="1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Multi-Agent Conversation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02920" y="260604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 et al., 2023  ·  Microsoft Research &amp; Penn State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090672"/>
            <a:ext cx="3200400" cy="45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3246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Jumana</a:t>
            </a:r>
            <a:r>
              <a:rPr lang="en-US" sz="2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Qraqra</a:t>
            </a:r>
            <a:endParaRPr lang="en-US" sz="2000" b="1" dirty="0">
              <a:solidFill>
                <a:srgbClr val="4A90D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000" b="1" dirty="0" err="1">
                <a:solidFill>
                  <a:srgbClr val="4A90D9"/>
                </a:solidFill>
                <a:latin typeface="Calibri" pitchFamily="34" charset="0"/>
                <a:cs typeface="Calibri" pitchFamily="34" charset="-120"/>
              </a:rPr>
              <a:t>Hadeel</a:t>
            </a:r>
            <a:r>
              <a:rPr lang="en-US" sz="2000" b="1" dirty="0">
                <a:solidFill>
                  <a:srgbClr val="4A90D9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4A90D9"/>
                </a:solidFill>
                <a:latin typeface="Calibri" pitchFamily="34" charset="0"/>
                <a:cs typeface="Calibri" pitchFamily="34" charset="-120"/>
              </a:rPr>
              <a:t>Arfat</a:t>
            </a:r>
            <a:r>
              <a:rPr lang="en-US" sz="2000" b="1" dirty="0">
                <a:solidFill>
                  <a:srgbClr val="4A90D9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4A90D9"/>
                </a:solidFill>
                <a:latin typeface="Calibri" pitchFamily="34" charset="0"/>
                <a:cs typeface="Calibri" pitchFamily="34" charset="-120"/>
              </a:rPr>
              <a:t>Hamodi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5029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Insight: Why Multi-Agent Conversation?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3840480" cy="3520440"/>
          </a:xfrm>
          <a:prstGeom prst="rect">
            <a:avLst/>
          </a:prstGeom>
          <a:solidFill>
            <a:srgbClr val="F4F7F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91440" cy="35204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058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Single-Agent Bottleneck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verify its own output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≠ Deep: broad LLM ≠ specialized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self-correction loop by default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failure → whole pipeline breaks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51960" y="23774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983480" y="914400"/>
            <a:ext cx="3840480" cy="3520440"/>
          </a:xfrm>
          <a:prstGeom prst="rect">
            <a:avLst/>
          </a:prstGeom>
          <a:solidFill>
            <a:srgbClr val="1B2A4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83480" y="914400"/>
            <a:ext cx="91440" cy="35204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0" y="10058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AutoGen's Answer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12080" y="146304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= one specialized role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critique and verify each other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= the control interface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can step in at any point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4553712"/>
            <a:ext cx="8503920" cy="40233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conversation between agents as a unified programming abstraction — not just an orchestration pattern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5029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Key Concepts — With a Concrete Example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3931920" cy="1920240"/>
          </a:xfrm>
          <a:prstGeom prst="rect">
            <a:avLst/>
          </a:prstGeom>
          <a:solidFill>
            <a:srgbClr val="F4F7F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91440" cy="19202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98755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Conversable Agents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389888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can send, receive and generate_reply. Backends: LLM · Tools · Human · Mix.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176272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Built-ins: AssistantAgent (LLM) and UserProxyAgent (executes code + solicits human)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914400"/>
            <a:ext cx="4389120" cy="1920240"/>
          </a:xfrm>
          <a:prstGeom prst="rect">
            <a:avLst/>
          </a:prstGeom>
          <a:solidFill>
            <a:srgbClr val="F4F7F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914400"/>
            <a:ext cx="91440" cy="1920240"/>
          </a:xfrm>
          <a:prstGeom prst="rect">
            <a:avLst/>
          </a:prstGeom>
          <a:solidFill>
            <a:srgbClr val="2D5986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98755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Conversation Programming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63440" y="1389888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= defining agents + programming how they talk. Control via natural language or Python code.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2176272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Auto-reply: once a message arrives, reply is triggered automatically — no extra control plane needed.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29718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 — Stock chart task: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3401568"/>
            <a:ext cx="1600200" cy="1481328"/>
          </a:xfrm>
          <a:prstGeom prst="rect">
            <a:avLst/>
          </a:prstGeom>
          <a:solidFill>
            <a:srgbClr val="F4F7F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401568"/>
            <a:ext cx="1600200" cy="256032"/>
          </a:xfrm>
          <a:prstGeom prst="rect">
            <a:avLst/>
          </a:prstGeom>
          <a:solidFill>
            <a:srgbClr val="2D5986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40156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4048" y="3703320"/>
            <a:ext cx="148132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"Plot META &amp; TESLA YTD"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920240" y="393192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020824" y="3401568"/>
            <a:ext cx="1600200" cy="1481328"/>
          </a:xfrm>
          <a:prstGeom prst="rect">
            <a:avLst/>
          </a:prstGeom>
          <a:solidFill>
            <a:srgbClr val="F4F7F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020824" y="3401568"/>
            <a:ext cx="1600200" cy="25603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3" name="Text 21"/>
          <p:cNvSpPr/>
          <p:nvPr/>
        </p:nvSpPr>
        <p:spPr>
          <a:xfrm>
            <a:off x="2066544" y="340156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084832" y="3703320"/>
            <a:ext cx="148132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Python code with yfinance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21024" y="393192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721608" y="3401568"/>
            <a:ext cx="1600200" cy="1481328"/>
          </a:xfrm>
          <a:prstGeom prst="rect">
            <a:avLst/>
          </a:prstGeom>
          <a:solidFill>
            <a:srgbClr val="F4F7F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721608" y="3401568"/>
            <a:ext cx="160020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3767328" y="340156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UserProxy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785616" y="3703320"/>
            <a:ext cx="148132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code → Error: yfinance not installed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21808" y="393192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422392" y="3401568"/>
            <a:ext cx="1600200" cy="1481328"/>
          </a:xfrm>
          <a:prstGeom prst="rect">
            <a:avLst/>
          </a:prstGeom>
          <a:solidFill>
            <a:srgbClr val="F4F7F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22392" y="3401568"/>
            <a:ext cx="1600200" cy="25603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3" name="Text 31"/>
          <p:cNvSpPr/>
          <p:nvPr/>
        </p:nvSpPr>
        <p:spPr>
          <a:xfrm>
            <a:off x="5468112" y="340156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0" y="3703320"/>
            <a:ext cx="148132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Fixes: adds pip install, re-sends code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022592" y="393192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123176" y="3401568"/>
            <a:ext cx="1600200" cy="1481328"/>
          </a:xfrm>
          <a:prstGeom prst="rect">
            <a:avLst/>
          </a:prstGeom>
          <a:solidFill>
            <a:srgbClr val="F4F7F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123176" y="3401568"/>
            <a:ext cx="1600200" cy="2560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8" name="Text 36"/>
          <p:cNvSpPr/>
          <p:nvPr/>
        </p:nvSpPr>
        <p:spPr>
          <a:xfrm>
            <a:off x="7168896" y="340156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UserProxy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187184" y="3703320"/>
            <a:ext cx="148132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fixed code → Chart output ✓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5029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Works — Empirical Results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011680" cy="1600200"/>
          </a:xfrm>
          <a:prstGeom prst="rect">
            <a:avLst/>
          </a:prstGeom>
          <a:solidFill>
            <a:srgbClr val="F4F7F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2011680" cy="914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7899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69.5%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11480" y="17647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MATH dataset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0848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55% vanilla GPT-4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960120"/>
            <a:ext cx="2011680" cy="1600200"/>
          </a:xfrm>
          <a:prstGeom prst="rect">
            <a:avLst/>
          </a:prstGeom>
          <a:solidFill>
            <a:srgbClr val="F4F7F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960120"/>
            <a:ext cx="2011680" cy="914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07899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2560320" y="17647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20848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OptiGuide: 430 → 100 lines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960120"/>
            <a:ext cx="2011680" cy="1600200"/>
          </a:xfrm>
          <a:prstGeom prst="rect">
            <a:avLst/>
          </a:prstGeom>
          <a:solidFill>
            <a:srgbClr val="F4F7F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960120"/>
            <a:ext cx="2011680" cy="91440"/>
          </a:xfrm>
          <a:prstGeom prst="rect">
            <a:avLst/>
          </a:prstGeom>
          <a:solidFill>
            <a:srgbClr val="2D5986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107899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4709160" y="17647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time saved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9160" y="20848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ChatGPT + Code Interpreter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960120"/>
            <a:ext cx="2011680" cy="1600200"/>
          </a:xfrm>
          <a:prstGeom prst="rect">
            <a:avLst/>
          </a:prstGeom>
          <a:solidFill>
            <a:srgbClr val="F4F7F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960120"/>
            <a:ext cx="2011680" cy="914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07899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6858000" y="17647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ALFWorld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0" y="20848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Grounding Agent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Genuinely New (beyond performance numbers):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20040" y="3200400"/>
            <a:ext cx="347472" cy="38404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320040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7240" y="320954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as abstraction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29000" y="3209544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inter-agent dialogue IS the program — not a side-effect of orchestration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" y="3621024"/>
            <a:ext cx="850392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Shape 29"/>
          <p:cNvSpPr/>
          <p:nvPr/>
        </p:nvSpPr>
        <p:spPr>
          <a:xfrm>
            <a:off x="320040" y="3794760"/>
            <a:ext cx="347472" cy="38404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2" name="Text 30"/>
          <p:cNvSpPr/>
          <p:nvPr/>
        </p:nvSpPr>
        <p:spPr>
          <a:xfrm>
            <a:off x="320040" y="379476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77240" y="380390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human-in-the-loop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429000" y="3803904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can join or skip at any turn; not just at start/end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0040" y="4215384"/>
            <a:ext cx="850392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Shape 34"/>
          <p:cNvSpPr/>
          <p:nvPr/>
        </p:nvSpPr>
        <p:spPr>
          <a:xfrm>
            <a:off x="320040" y="4389120"/>
            <a:ext cx="347472" cy="38404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" y="438912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77240" y="439826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Auto-reply without a controller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429000" y="4398264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Decentralized: no special module needed to route messages between agents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5029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Analysis — What Is Missing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160520" cy="1828800"/>
          </a:xfrm>
          <a:prstGeom prst="rect">
            <a:avLst/>
          </a:prstGeom>
          <a:solidFill>
            <a:srgbClr val="F4F7F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91440" cy="1828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515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Design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435608"/>
            <a:ext cx="3794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(MATH, ALFWorld) chosen to suit AutoGen's strengths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metric across all six demos — incomparable results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are weak: ReAct uses text-davinci-003, not GPT-4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160520" cy="1828800"/>
          </a:xfrm>
          <a:prstGeom prst="rect">
            <a:avLst/>
          </a:prstGeom>
          <a:solidFill>
            <a:srgbClr val="F4F7F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960120"/>
            <a:ext cx="91440" cy="1828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0515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Cost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435608"/>
            <a:ext cx="3794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agents = N× LLM calls per turn — cost multiplies fast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cost-benefit analysis in the paper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backend assumed throughout; inaccessible for most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944368"/>
            <a:ext cx="4160520" cy="1828800"/>
          </a:xfrm>
          <a:prstGeom prst="rect">
            <a:avLst/>
          </a:prstGeom>
          <a:solidFill>
            <a:srgbClr val="F4F7F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944368"/>
            <a:ext cx="91440" cy="1828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0358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&amp; Safety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419856"/>
            <a:ext cx="3794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mode: cascading errors with no built-in circuit-breaker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logging or debugging tooling provided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itself admits risk of 'unintelligible chatter among agents'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944368"/>
            <a:ext cx="4160520" cy="1828800"/>
          </a:xfrm>
          <a:prstGeom prst="rect">
            <a:avLst/>
          </a:prstGeom>
          <a:solidFill>
            <a:srgbClr val="F4F7F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944368"/>
            <a:ext cx="91440" cy="18288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30358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Claim, Narrow Proof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419856"/>
            <a:ext cx="3794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generic infrastructure — proven on only 6 hand-picked demos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demos use ≤4 agents; scalability to 20+ never tested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ablations on architecture design choices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5029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AutoGen Does NOT Fit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23360" cy="457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14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Good Fit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06908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9144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Poor Fit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" y="1371600"/>
            <a:ext cx="4023360" cy="283464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81328"/>
            <a:ext cx="374904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that naturally decompose into roles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/ safeguard required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code debug loops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human oversight mid-task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team of agents (2–5)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4069080" cy="2834640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481328"/>
            <a:ext cx="37947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tasks — overhead exceeds benefit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Latency-sensitive / real-time systems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streaming sessions (context limits)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determinism required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API call budget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4315968"/>
            <a:ext cx="8503920" cy="566928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352544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if a human can naturally split the task into separate roles → multi-agent helps. If not → likely overkill.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5029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Since Publication (2024–2025)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14984"/>
            <a:ext cx="384048" cy="384048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149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9204" y="1417320"/>
            <a:ext cx="64008" cy="402336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1051560"/>
            <a:ext cx="960120" cy="274320"/>
          </a:xfrm>
          <a:prstGeom prst="rect">
            <a:avLst/>
          </a:prstGeom>
          <a:solidFill>
            <a:srgbClr val="4A90D9">
              <a:alpha val="3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0515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Q4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965960" y="99669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63440" y="996696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Graph-based orchestration → explicit control over conversation flow; addresses AutoGen's opacity problem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837944"/>
            <a:ext cx="384048" cy="38404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1837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9204" y="2240280"/>
            <a:ext cx="64008" cy="402336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1874520"/>
            <a:ext cx="960120" cy="274320"/>
          </a:xfrm>
          <a:prstGeom prst="rect">
            <a:avLst/>
          </a:prstGeom>
          <a:solidFill>
            <a:srgbClr val="16A34A">
              <a:alpha val="3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187452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Q1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65960" y="181965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1819656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Role-first agent design with minimal boilerplate; popularizes AutoGen's ideas with simpler API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660904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2660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9204" y="3063240"/>
            <a:ext cx="64008" cy="402336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" y="2697480"/>
            <a:ext cx="960120" cy="274320"/>
          </a:xfrm>
          <a:prstGeom prst="rect">
            <a:avLst/>
          </a:prstGeom>
          <a:solidFill>
            <a:srgbClr val="D97706">
              <a:alpha val="3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269748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Q2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965960" y="264261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Assistants API + Threads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63440" y="2642616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memory becomes a platform feature — much of AutoGen's boilerplate is now built-in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483864"/>
            <a:ext cx="384048" cy="38404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34838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9204" y="3886200"/>
            <a:ext cx="64008" cy="402336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68680" y="3520440"/>
            <a:ext cx="960120" cy="274320"/>
          </a:xfrm>
          <a:prstGeom prst="rect">
            <a:avLst/>
          </a:prstGeom>
          <a:solidFill>
            <a:srgbClr val="DC2626">
              <a:alpha val="3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352044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965960" y="346557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evals go mainstream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663440" y="3465576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AgentBench · τ-bench · SWE-bench: the problem AutoGen didn't solve — how do you measure agent quality?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4306824"/>
            <a:ext cx="384048" cy="384048"/>
          </a:xfrm>
          <a:prstGeom prst="ellipse">
            <a:avLst/>
          </a:prstGeom>
          <a:solidFill>
            <a:srgbClr val="C8DEFF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" y="43068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68680" y="4343400"/>
            <a:ext cx="960120" cy="274320"/>
          </a:xfrm>
          <a:prstGeom prst="rect">
            <a:avLst/>
          </a:prstGeom>
          <a:solidFill>
            <a:srgbClr val="C8DEFF">
              <a:alpha val="3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868680" y="43434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965960" y="428853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 → AG2 + AutoGen Studio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663440" y="4288536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Rebranding + visual UI; implicitly acknowledges the original API was too hard to use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5029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 vs. Related Systems — What It Actually Added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1920240" cy="56692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374904" y="93268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40280" y="932688"/>
            <a:ext cx="1188720" cy="56692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2295144" y="932688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932688"/>
            <a:ext cx="1691640" cy="56692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3483864" y="932688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20640" y="932688"/>
            <a:ext cx="1188720" cy="56692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5175504" y="932688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932688"/>
            <a:ext cx="1874520" cy="56692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6364224" y="932688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Involvement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1499616"/>
            <a:ext cx="1920240" cy="640080"/>
          </a:xfrm>
          <a:prstGeom prst="rect">
            <a:avLst/>
          </a:prstGeom>
          <a:solidFill>
            <a:srgbClr val="C8DE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" y="1499616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40280" y="1499616"/>
            <a:ext cx="1188720" cy="640080"/>
          </a:xfrm>
          <a:prstGeom prst="rect">
            <a:avLst/>
          </a:prstGeom>
          <a:solidFill>
            <a:srgbClr val="C8DE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95144" y="1499616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29000" y="1499616"/>
            <a:ext cx="1691640" cy="640080"/>
          </a:xfrm>
          <a:prstGeom prst="rect">
            <a:avLst/>
          </a:prstGeom>
          <a:solidFill>
            <a:srgbClr val="C8DE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83864" y="1499616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(static+dynamic)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120640" y="1499616"/>
            <a:ext cx="1188720" cy="640080"/>
          </a:xfrm>
          <a:prstGeom prst="rect">
            <a:avLst/>
          </a:prstGeom>
          <a:solidFill>
            <a:srgbClr val="C8DE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75504" y="1499616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1499616"/>
            <a:ext cx="1874520" cy="640080"/>
          </a:xfrm>
          <a:prstGeom prst="rect">
            <a:avLst/>
          </a:prstGeom>
          <a:solidFill>
            <a:srgbClr val="C8DE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64224" y="1499616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/ skip (any turn)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1499616"/>
            <a:ext cx="64008" cy="6400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" y="2157984"/>
            <a:ext cx="1920240" cy="640080"/>
          </a:xfrm>
          <a:prstGeom prst="rect">
            <a:avLst/>
          </a:prstGeom>
          <a:solidFill>
            <a:srgbClr val="F4F7FC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" y="2157984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Debate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40280" y="2157984"/>
            <a:ext cx="1188720" cy="640080"/>
          </a:xfrm>
          <a:prstGeom prst="rect">
            <a:avLst/>
          </a:prstGeom>
          <a:solidFill>
            <a:srgbClr val="F4F7FC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95144" y="2157984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429000" y="2157984"/>
            <a:ext cx="1691640" cy="640080"/>
          </a:xfrm>
          <a:prstGeom prst="rect">
            <a:avLst/>
          </a:prstGeom>
          <a:solidFill>
            <a:srgbClr val="F4F7FC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83864" y="2157984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120640" y="2157984"/>
            <a:ext cx="1188720" cy="640080"/>
          </a:xfrm>
          <a:prstGeom prst="rect">
            <a:avLst/>
          </a:prstGeom>
          <a:solidFill>
            <a:srgbClr val="F4F7FC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75504" y="2157984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09360" y="2157984"/>
            <a:ext cx="1874520" cy="640080"/>
          </a:xfrm>
          <a:prstGeom prst="rect">
            <a:avLst/>
          </a:prstGeom>
          <a:solidFill>
            <a:srgbClr val="F4F7FC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64224" y="2157984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0040" y="2816352"/>
            <a:ext cx="19202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4904" y="281635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CAMEL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240280" y="2816352"/>
            <a:ext cx="11887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95144" y="2816352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429000" y="2816352"/>
            <a:ext cx="16916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83864" y="2816352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120640" y="2816352"/>
            <a:ext cx="11887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75504" y="2816352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309360" y="2816352"/>
            <a:ext cx="1874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64224" y="281635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20040" y="3474720"/>
            <a:ext cx="1920240" cy="640080"/>
          </a:xfrm>
          <a:prstGeom prst="rect">
            <a:avLst/>
          </a:prstGeom>
          <a:solidFill>
            <a:srgbClr val="F4F7FC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4904" y="34747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BabyAGI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240280" y="3474720"/>
            <a:ext cx="1188720" cy="640080"/>
          </a:xfrm>
          <a:prstGeom prst="rect">
            <a:avLst/>
          </a:prstGeom>
          <a:solidFill>
            <a:srgbClr val="F4F7FC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95144" y="34747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429000" y="3474720"/>
            <a:ext cx="1691640" cy="640080"/>
          </a:xfrm>
          <a:prstGeom prst="rect">
            <a:avLst/>
          </a:prstGeom>
          <a:solidFill>
            <a:srgbClr val="F4F7FC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83864" y="347472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120640" y="3474720"/>
            <a:ext cx="1188720" cy="640080"/>
          </a:xfrm>
          <a:prstGeom prst="rect">
            <a:avLst/>
          </a:prstGeom>
          <a:solidFill>
            <a:srgbClr val="F4F7FC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75504" y="34747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309360" y="3474720"/>
            <a:ext cx="1874520" cy="640080"/>
          </a:xfrm>
          <a:prstGeom prst="rect">
            <a:avLst/>
          </a:prstGeom>
          <a:solidFill>
            <a:srgbClr val="F4F7FC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64224" y="347472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320040" y="4133088"/>
            <a:ext cx="19202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74904" y="413308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MetaGPT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240280" y="4133088"/>
            <a:ext cx="11887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295144" y="4133088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3429000" y="4133088"/>
            <a:ext cx="16916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83864" y="4133088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5120640" y="4133088"/>
            <a:ext cx="11887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175504" y="4133088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6309360" y="4133088"/>
            <a:ext cx="1874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64224" y="4133088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320040" y="4800600"/>
            <a:ext cx="8503920" cy="18288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67" name="Text 65"/>
          <p:cNvSpPr/>
          <p:nvPr/>
        </p:nvSpPr>
        <p:spPr>
          <a:xfrm>
            <a:off x="457200" y="4818888"/>
            <a:ext cx="8229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 unique combination: generic infrastructure + dynamic patterns + code execution + flexible human loop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5029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OptiGuide Is the Most Convincing Demo (A4)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3931920" cy="3977640"/>
          </a:xfrm>
          <a:prstGeom prst="rect">
            <a:avLst/>
          </a:prstGeom>
          <a:solidFill>
            <a:srgbClr val="F4F7F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91440" cy="39776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05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does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63040"/>
            <a:ext cx="1371600" cy="47548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46304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11680" y="1517904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question, coordinates, handles memory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8952" y="1956816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542032"/>
            <a:ext cx="1371600" cy="475488"/>
          </a:xfrm>
          <a:prstGeom prst="rect">
            <a:avLst/>
          </a:prstGeom>
          <a:solidFill>
            <a:srgbClr val="2D5986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54203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11680" y="2596896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&amp; interprets Python code for the optimizer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58952" y="303580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3621024"/>
            <a:ext cx="1371600" cy="47548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621024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0" y="367588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code safety before execution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22452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"What if we prohibit shipping from supplier 1 to roastery 2?"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34840" y="914400"/>
            <a:ext cx="4389120" cy="1874520"/>
          </a:xfrm>
          <a:prstGeom prst="rect">
            <a:avLst/>
          </a:prstGeom>
          <a:solidFill>
            <a:srgbClr val="F4F7F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34840" y="914400"/>
            <a:ext cx="91440" cy="18745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evidence not just a demo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63440" y="146304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430 to 100 lines of core code (4x reduction)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user time saved vs ChatGPT+Code Interpreter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 5x fewer user interactions needed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34840" y="2926080"/>
            <a:ext cx="4389120" cy="1691640"/>
          </a:xfrm>
          <a:prstGeom prst="rect">
            <a:avLst/>
          </a:prstGeom>
          <a:solidFill>
            <a:srgbClr val="F4F7F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34840" y="2926080"/>
            <a:ext cx="91440" cy="1691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30175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Ablation: multi-agent design is necessary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663440" y="3456432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Writer + Safeguard: F1 drops 35% with GPT-3.5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separation changes outcomes, not cosmetic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4800600"/>
            <a:ext cx="8503920" cy="20116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81888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demo with a real ablation + user study. The standard every other demo should have met.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5029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33272"/>
            <a:ext cx="384048" cy="384048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332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996696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as abstraction is the real contribution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34416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benchmarks — the programming model that hides orchestration complexity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728216"/>
            <a:ext cx="8503920" cy="9144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1837944"/>
            <a:ext cx="384048" cy="384048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837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180136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≠ automatically better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14884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latency and debuggability make single-agent preferable for simple tasks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532888"/>
            <a:ext cx="8503920" cy="9144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" y="2642616"/>
            <a:ext cx="384048" cy="384048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26426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260604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is the paper's weakest point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295351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ask: what is the baseline, how was it chosen, and who paid for GPT-4?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337560"/>
            <a:ext cx="8503920" cy="9144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" y="3447288"/>
            <a:ext cx="384048" cy="384048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4472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341071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ecosystem moved fast and partially superseded AutoGen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3758184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LangGraph, CrewAI, OpenAI Assistants each solved a gap AutoGen left open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4142232"/>
            <a:ext cx="8503920" cy="9144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" y="4251960"/>
            <a:ext cx="384048" cy="384048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4251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4215384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question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2960" y="4562856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framework simplify the work — or just hide the complexity one layer deeper?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978</Words>
  <Application>Microsoft Office PowerPoint</Application>
  <PresentationFormat>On-screen Show (16:9)</PresentationFormat>
  <Paragraphs>197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AutoGen: Critical Analysis</dc:title>
  <dc:subject>PptxGenJS Presentation</dc:subject>
  <dc:creator>PptxGenJS</dc:creator>
  <cp:lastModifiedBy>mohamd mhameed</cp:lastModifiedBy>
  <cp:revision>3</cp:revision>
  <dcterms:created xsi:type="dcterms:W3CDTF">2026-05-03T13:30:16Z</dcterms:created>
  <dcterms:modified xsi:type="dcterms:W3CDTF">2026-08-14T15:42:51Z</dcterms:modified>
</cp:coreProperties>
</file>