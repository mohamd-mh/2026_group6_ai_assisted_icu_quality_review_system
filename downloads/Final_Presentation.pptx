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94B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3294B"/>
                </a:solidFill>
                <a:latin typeface="Arial"/>
              </a:rPr>
              <a:t>High-Risk Detection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(SIRS)</c:v>
                </c:pt>
              </c:strCache>
            </c:strRef>
          </c:tx>
          <c:spPr>
            <a:solidFill>
              <a:srgbClr val="3D4C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</c:v>
                </c:pt>
                <c:pt idx="1">
                  <c:v>0.34</c:v>
                </c:pt>
                <c:pt idx="2">
                  <c:v>0.33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BA-41AB-9464-C168A80A5A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Modular Workflow</c:v>
                </c:pt>
              </c:strCache>
            </c:strRef>
          </c:tx>
          <c:spPr>
            <a:solidFill>
              <a:srgbClr val="1B7A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0.86</c:v>
                </c:pt>
                <c:pt idx="1">
                  <c:v>0.35</c:v>
                </c:pt>
                <c:pt idx="2">
                  <c:v>0.38</c:v>
                </c:pt>
                <c:pt idx="3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BA-41AB-9464-C168A80A5A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C5E"/>
                </a:solidFill>
                <a:latin typeface="Arial"/>
              </a:defRPr>
            </a:pPr>
            <a:endParaRPr lang="he-I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C5E"/>
                </a:solidFill>
                <a:latin typeface="Arial"/>
              </a:defRPr>
            </a:pPr>
            <a:endParaRPr lang="he-I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C5E"/>
              </a:solidFill>
            </a:defRPr>
          </a:pPr>
          <a:endParaRPr lang="he-IL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17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4884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ICU Quality Review Workbench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Software Workflow for ICU Risk Prediction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in the Age of AI  —  Final Seminar 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Mhamed  ·  Basil Sheikh  ·  Jumana Qraqra  ·  Hadeel Arafat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2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Haifa  ·  </a:t>
            </a:r>
            <a:r>
              <a:rPr lang="en-US" sz="1200" dirty="0" smtClean="0">
                <a:solidFill>
                  <a:srgbClr val="82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Workflow vs. a Single Opaque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structuring AI-based ICU risk prediction as a modular, role-separated software workflow — rather than a single opaque model — affect the reliability, transparency, and auditability of the resulting system, compared with a single-pipeline baseline?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514344" cy="1920240"/>
          </a:xfrm>
          <a:prstGeom prst="roundRect">
            <a:avLst>
              <a:gd name="adj" fmla="val 2857"/>
            </a:avLst>
          </a:prstGeom>
          <a:solidFill>
            <a:srgbClr val="E6F2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279392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30571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models are often a black box — no explanation, no data-quality check, no oversight.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7304" y="4114800"/>
            <a:ext cx="3514344" cy="1920240"/>
          </a:xfrm>
          <a:prstGeom prst="roundRect">
            <a:avLst>
              <a:gd name="adj" fmla="val 2857"/>
            </a:avLst>
          </a:prstGeom>
          <a:solidFill>
            <a:srgbClr val="E6F2F1"/>
          </a:solidFill>
          <a:ln/>
        </p:spPr>
      </p:sp>
      <p:sp>
        <p:nvSpPr>
          <p:cNvPr id="10" name="Text 8"/>
          <p:cNvSpPr/>
          <p:nvPr/>
        </p:nvSpPr>
        <p:spPr>
          <a:xfrm>
            <a:off x="4565904" y="4279392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5904" y="4663440"/>
            <a:ext cx="30571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restructuring it as a modular workflow change reliability and transparency — not just accuracy?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4114800"/>
            <a:ext cx="3514344" cy="1920240"/>
          </a:xfrm>
          <a:prstGeom prst="roundRect">
            <a:avLst>
              <a:gd name="adj" fmla="val 2857"/>
            </a:avLst>
          </a:prstGeom>
          <a:solidFill>
            <a:srgbClr val="E6F2F1"/>
          </a:solidFill>
          <a:ln/>
        </p:spPr>
      </p:sp>
      <p:sp>
        <p:nvSpPr>
          <p:cNvPr id="13" name="Text 11"/>
          <p:cNvSpPr/>
          <p:nvPr/>
        </p:nvSpPr>
        <p:spPr>
          <a:xfrm>
            <a:off x="8354568" y="4279392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4568" y="4663440"/>
            <a:ext cx="30571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both a single-pipeline baseline and a modular workflow; compare them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“Accurate” and “Trustworthy”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real gap between a model that predicts well on paper (Accuracy, F1) and a system a coordinator can actually rely on in daily work. Closing that gap is a software engineering problem — architecture, validation, and documentation — not only an algorithmic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4864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535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2953512"/>
            <a:ext cx="7616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Quality &amp; Patient Safety Coordinator — not a bedside clinical decision-maker.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136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3913632"/>
            <a:ext cx="7616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dozens of cases, document decisions, keep a traceable audit history.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54864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737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goal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4873752"/>
            <a:ext cx="7616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that is transparent and inspectable, not an unexplained black box.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Evaluated Side by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Pipeline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SIRS criteria (Bone et al., 1992)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cited clinical criteria: temperature, heart rate, respiratory rate, WBC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493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criteria met → SIRS-positive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599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rule count → Low / Medium / High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6268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data-quality check, no verification step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E6F2F1"/>
          </a:solidFill>
          <a:ln w="12700">
            <a:solidFill>
              <a:srgbClr val="1B7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Agent-Inspired Workflow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AutoGen · LPW — deterministic, not LLM-driven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2926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Validator → Good / Partial / Poor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493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Clinical Assessor (broader variable set)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0599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→ escalates risk level, never de-escalates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6268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→ human-readable rationale + trace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full autonomous multi-agent negotiation system — a fixed, inspectable sequence of specialized components.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Component That Actually Learns from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the workflow is rule-based logic. A single trained Logistic Regression model is the only component that learns statistical patterns from the data.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2567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2928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used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0138" y="260604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3390138" y="2697480"/>
            <a:ext cx="2567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7298" y="3291840"/>
            <a:ext cx="22928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excluded (leakage/IDs)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1636" y="260604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6231636" y="2697480"/>
            <a:ext cx="2567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68796" y="3291840"/>
            <a:ext cx="22928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73134" y="2606040"/>
            <a:ext cx="2567178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9073134" y="2697480"/>
            <a:ext cx="25671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10294" y="3291840"/>
            <a:ext cx="22928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stays evaluated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 (predicted probability):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4709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C9992C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4800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 – 0.67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4709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B4453A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4800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3504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0.67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check: passed — 0 issues (label never used as a prediction input)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Modular Workflow — High-Risk Detection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9494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2011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accuracy (0.86 vs. 0.86)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38160" y="2880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recall / F1 gain for the modular workflow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38160" y="37490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detection (Medium+High): also a small gain (F1 0.297 → 0.309)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4617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effect is real, but narrow (see next slide)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but Narrow Effect — Traced to 15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changed by the verifier (1.5%)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B7A72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38912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 among escalated cases, vs. 10.6% overall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C9992C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04672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de-escalations — the verifier only ever raises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escalations are concentrated entirely in emergency admissions — non-emergency cases show byte-identical metrics between the two pipelines. This is a genuine, mechanistically traceable effect, not noise or a bug — but with only 15 affected rows, its exact size should not be treated as a stable, generalizable result.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E6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modular workflow does not meaningfully improve raw predictive accuracy. Its genuine contribution is reliability and transparency — data-quality checks, a documented verification step, a workflow trace, and uncertainty warnings.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an Honest, Documented Workbench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847088"/>
            <a:ext cx="1052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baseline prototype: simple ICU risk scoring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384048" cy="384048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468880"/>
            <a:ext cx="1052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agent-inspired workflow added: validator, scorer, verifier, explainer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090672"/>
            <a:ext cx="1052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feedback: needed clearer AI content and a clearer real-world user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712464"/>
            <a:ext cx="1052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expanded to 1000 processed ICU stays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334256"/>
            <a:ext cx="1052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supervised ML model trained, evaluated, and saved with metadata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4956048"/>
            <a:ext cx="1052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re-aligned to ICU Quality &amp; Patient Safety Coordinator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LESSON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and Correcting Our Own Overclaiming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1920240"/>
          </a:xfrm>
          <a:prstGeom prst="roundRect">
            <a:avLst>
              <a:gd name="adj" fmla="val 2857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143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“Planning-driven multi-agent LLM workflow, inspired by LPW and AutoGen”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1828800"/>
            <a:ext cx="5362956" cy="1920240"/>
          </a:xfrm>
          <a:prstGeom prst="roundRect">
            <a:avLst>
              <a:gd name="adj" fmla="val 2857"/>
            </a:avLst>
          </a:prstGeom>
          <a:solidFill>
            <a:srgbClr val="E6F2F1"/>
          </a:solidFill>
          <a:ln/>
        </p:spPr>
      </p:sp>
      <p:sp>
        <p:nvSpPr>
          <p:cNvPr id="8" name="Text 6"/>
          <p:cNvSpPr/>
          <p:nvPr/>
        </p:nvSpPr>
        <p:spPr>
          <a:xfrm>
            <a:off x="6551676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1676" y="2286000"/>
            <a:ext cx="48143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“Modular, agent-inspired workflow — not a full autonomous AutoGen-style multi-agent negotiation system”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workflow is a deterministic rule-based pipeline — no LLM call anywhere in the risk-scoring path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00176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baseline's 10 ad-hoc rules were replaced with the cited SIRS criteria (Bone et al., 1992)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568696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report and system now matches what the code actually does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v1.4 — 1000 Processed ICU Stays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178" cy="1188720"/>
          </a:xfrm>
          <a:prstGeom prst="roundRect">
            <a:avLst>
              <a:gd name="adj" fmla="val 6154"/>
            </a:avLst>
          </a:prstGeom>
          <a:solidFill>
            <a:srgbClr val="E6F2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2567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stays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138" y="1828800"/>
            <a:ext cx="2567178" cy="1188720"/>
          </a:xfrm>
          <a:prstGeom prst="roundRect">
            <a:avLst>
              <a:gd name="adj" fmla="val 6154"/>
            </a:avLst>
          </a:prstGeom>
          <a:solidFill>
            <a:srgbClr val="E6F2F1"/>
          </a:solidFill>
          <a:ln/>
        </p:spPr>
      </p:sp>
      <p:sp>
        <p:nvSpPr>
          <p:cNvPr id="8" name="Text 6"/>
          <p:cNvSpPr/>
          <p:nvPr/>
        </p:nvSpPr>
        <p:spPr>
          <a:xfrm>
            <a:off x="3390138" y="1901952"/>
            <a:ext cx="2567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81578" y="2450592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(Class 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828800"/>
            <a:ext cx="2567178" cy="1188720"/>
          </a:xfrm>
          <a:prstGeom prst="roundRect">
            <a:avLst>
              <a:gd name="adj" fmla="val 6154"/>
            </a:avLst>
          </a:prstGeom>
          <a:solidFill>
            <a:srgbClr val="E6F2F1"/>
          </a:solidFill>
          <a:ln/>
        </p:spPr>
      </p:sp>
      <p:sp>
        <p:nvSpPr>
          <p:cNvPr id="11" name="Text 9"/>
          <p:cNvSpPr/>
          <p:nvPr/>
        </p:nvSpPr>
        <p:spPr>
          <a:xfrm>
            <a:off x="6231636" y="1901952"/>
            <a:ext cx="2567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23076" y="2450592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 in hospital (Class 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3134" y="1828800"/>
            <a:ext cx="2567178" cy="1188720"/>
          </a:xfrm>
          <a:prstGeom prst="roundRect">
            <a:avLst>
              <a:gd name="adj" fmla="val 6154"/>
            </a:avLst>
          </a:prstGeom>
          <a:solidFill>
            <a:srgbClr val="E6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9073134" y="1901952"/>
            <a:ext cx="2567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64574" y="2450592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(via course-provided Google Drive folder):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PATIENTS.csv · ADMISSIONS.csv · ICUSTAYS.csv · CHARTEVENTS.csv (~33GB) · LABEVENTS.csv · D_ITEMS.csv · D_LABITEMS.csv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input features: demographics, admission context, vital signs, lab values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excluded from prediction inputs: subject_id, hadm_id, icustay_id, hospital_expire_flag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median imputation (numeric), most-frequent (categorical) — inside the model pipeline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MIMIC files &amp; extraction script not included in submission (size) — disclosed, not hidden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Read, and How It Shaped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1468" cy="420624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01468" cy="73152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al., 2023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357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 conversation framework.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2357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the decomposition into specialized, role-separated components — not the LLM-conversation technology itself.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8708" y="1828800"/>
            <a:ext cx="2601468" cy="420624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1828800"/>
            <a:ext cx="2601468" cy="73152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13" name="Text 11"/>
          <p:cNvSpPr/>
          <p:nvPr/>
        </p:nvSpPr>
        <p:spPr>
          <a:xfrm>
            <a:off x="3561588" y="20116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1588" y="239572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et al., 2024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1588" y="2788920"/>
            <a:ext cx="22357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Plan-then-verify LLM programming workflow.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1588" y="365760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1588" y="3931920"/>
            <a:ext cx="22357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the Verifier stage: check a result against evidence before finalizing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828800"/>
            <a:ext cx="2601468" cy="420624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828800"/>
            <a:ext cx="2601468" cy="73152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656" y="20116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SIRS Criteria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1656" y="239572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et al., 1992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91656" y="2788920"/>
            <a:ext cx="22357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clinical severity scoring.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91656" y="365760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91656" y="3931920"/>
            <a:ext cx="22357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adopted as the project's literature-grounded baseline (replacing uncited ad-hoc rules).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38844" y="1828800"/>
            <a:ext cx="2601468" cy="420624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8844" y="1828800"/>
            <a:ext cx="2601468" cy="73152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27" name="Text 25"/>
          <p:cNvSpPr/>
          <p:nvPr/>
        </p:nvSpPr>
        <p:spPr>
          <a:xfrm>
            <a:off x="9221724" y="20116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 Benchmarks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21724" y="2395728"/>
            <a:ext cx="223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Harutyunyan et al., + preprocessing lit.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221724" y="2788920"/>
            <a:ext cx="22357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ICU prediction tasks &amp; feature extraction.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221724" y="3657600"/>
            <a:ext cx="223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21724" y="3931920"/>
            <a:ext cx="22357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the evaluation methodology and leakage-safe preprocessing approach.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Honest About, and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assessor's variable weights are engineering judgment, not calibrated against the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components don't impute missing values — unlike the ML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0273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affected cases limit how confidently the modular-workflow effect can be generalized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61104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MIMIC files &amp; extraction script not included — limits end-to-end reproducibility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22860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calibrate the weighted assessor's factor weights against the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9443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larger / external ICU cohort to test generalizability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60273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genuine LLM-based planning/verification layer, clearly distinguished from today's deterministic logic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261104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unit tests for the rule-based and verification logic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WORKBENCH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Coordinator Can Actually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14344" cy="1874520"/>
          </a:xfrm>
          <a:prstGeom prst="roundRect">
            <a:avLst>
              <a:gd name="adj" fmla="val 3415"/>
            </a:avLst>
          </a:prstGeom>
          <a:solidFill>
            <a:srgbClr val="E6F2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057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cases waiting for review, follow-up, or documentation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7304" y="1874520"/>
            <a:ext cx="3514344" cy="1874520"/>
          </a:xfrm>
          <a:prstGeom prst="roundRect">
            <a:avLst>
              <a:gd name="adj" fmla="val 3415"/>
            </a:avLst>
          </a:prstGeom>
          <a:solidFill>
            <a:srgbClr val="E6F2F1"/>
          </a:solidFill>
          <a:ln/>
        </p:spPr>
      </p:sp>
      <p:sp>
        <p:nvSpPr>
          <p:cNvPr id="8" name="Text 6"/>
          <p:cNvSpPr/>
          <p:nvPr/>
        </p:nvSpPr>
        <p:spPr>
          <a:xfrm>
            <a:off x="4565904" y="205740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Review Ticket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65904" y="2560320"/>
            <a:ext cx="3057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available values; run AI-supported review analysis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5968" y="1874520"/>
            <a:ext cx="3514344" cy="1874520"/>
          </a:xfrm>
          <a:prstGeom prst="roundRect">
            <a:avLst>
              <a:gd name="adj" fmla="val 3415"/>
            </a:avLst>
          </a:prstGeom>
          <a:solidFill>
            <a:srgbClr val="E6F2F1"/>
          </a:solidFill>
          <a:ln/>
        </p:spPr>
      </p:sp>
      <p:sp>
        <p:nvSpPr>
          <p:cNvPr id="11" name="Text 9"/>
          <p:cNvSpPr/>
          <p:nvPr/>
        </p:nvSpPr>
        <p:spPr>
          <a:xfrm>
            <a:off x="8354568" y="205740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Library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4568" y="2560320"/>
            <a:ext cx="3057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processed ICU cases; open assessments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14344" cy="1874520"/>
          </a:xfrm>
          <a:prstGeom prst="roundRect">
            <a:avLst>
              <a:gd name="adj" fmla="val 3415"/>
            </a:avLst>
          </a:prstGeom>
          <a:solidFill>
            <a:srgbClr val="E6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0624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3057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training data, metrics, and feature importances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37304" y="4023360"/>
            <a:ext cx="3514344" cy="1874520"/>
          </a:xfrm>
          <a:prstGeom prst="roundRect">
            <a:avLst>
              <a:gd name="adj" fmla="val 3415"/>
            </a:avLst>
          </a:prstGeom>
          <a:solidFill>
            <a:srgbClr val="E6F2F1"/>
          </a:solidFill>
          <a:ln/>
        </p:spPr>
      </p:sp>
      <p:sp>
        <p:nvSpPr>
          <p:cNvPr id="17" name="Text 15"/>
          <p:cNvSpPr/>
          <p:nvPr/>
        </p:nvSpPr>
        <p:spPr>
          <a:xfrm>
            <a:off x="4565904" y="420624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65904" y="4709160"/>
            <a:ext cx="3057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modular workflow, side by side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25968" y="4023360"/>
            <a:ext cx="3514344" cy="1874520"/>
          </a:xfrm>
          <a:prstGeom prst="roundRect">
            <a:avLst>
              <a:gd name="adj" fmla="val 3415"/>
            </a:avLst>
          </a:prstGeom>
          <a:solidFill>
            <a:srgbClr val="E6F2F1"/>
          </a:solidFill>
          <a:ln/>
        </p:spPr>
      </p:sp>
      <p:sp>
        <p:nvSpPr>
          <p:cNvPr id="20" name="Text 18"/>
          <p:cNvSpPr/>
          <p:nvPr/>
        </p:nvSpPr>
        <p:spPr>
          <a:xfrm>
            <a:off x="8354568" y="420624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4568" y="4709160"/>
            <a:ext cx="3057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status, priority, and note change is traceable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scope: quality-review support only — does not diagnose, prescribe, or replace clinical staff.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does not automatically buy you accuracy — but it can genuinely buy you transparency, traceability, and trust.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28016" cy="12801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834640"/>
            <a:ext cx="10771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literature-grounded baseline (SIRS) replacing uncited ad-hoc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84448"/>
            <a:ext cx="128016" cy="12801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93008"/>
            <a:ext cx="10771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evaluated ML model — not a simulated AI output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42816"/>
            <a:ext cx="128016" cy="12801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51376"/>
            <a:ext cx="10771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comparison showing where structure helps, and where it doesn't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901184"/>
            <a:ext cx="128016" cy="12801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09744"/>
            <a:ext cx="10771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documented, and disclosed-limitations software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מסך רחב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‏‏משתמש Windows</cp:lastModifiedBy>
  <cp:revision>2</cp:revision>
  <dcterms:created xsi:type="dcterms:W3CDTF">2026-07-30T20:47:41Z</dcterms:created>
  <dcterms:modified xsi:type="dcterms:W3CDTF">2026-08-15T12:57:29Z</dcterms:modified>
</cp:coreProperties>
</file>